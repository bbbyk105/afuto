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201168"/>
            <a:ext cx="12191695" cy="54864"/>
          </a:xfrm>
          <a:prstGeom prst="rect">
            <a:avLst/>
          </a:prstGeom>
          <a:solidFill>
            <a:srgbClr val="1C9BD1"/>
          </a:solidFill>
          <a:ln/>
        </p:spPr>
      </p:sp>
      <p:pic>
        <p:nvPicPr>
          <p:cNvPr id="4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14400" y="1051560"/>
            <a:ext cx="4901837" cy="868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688" y="2697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 PRODUCTION &amp; MARKETING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14400" y="3063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ホームページ制作・集客のご提案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932688" y="4160520"/>
            <a:ext cx="1463040" cy="5486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作って終わりにしない。集客・運用まで一緒に伴走します。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F6F9FC"/>
          </a:solidFill>
          <a:ln/>
        </p:spPr>
      </p:sp>
      <p:sp>
        <p:nvSpPr>
          <p:cNvPr id="10" name="Text 7"/>
          <p:cNvSpPr/>
          <p:nvPr/>
        </p:nvSpPr>
        <p:spPr>
          <a:xfrm>
            <a:off x="914400" y="5943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全国対応　｜　官公庁・公的機関の入札案件にも対応</a:t>
            </a:r>
            <a:endParaRPr lang="en-US" sz="1300" dirty="0"/>
          </a:p>
        </p:txBody>
      </p:sp>
      <p:pic>
        <p:nvPicPr>
          <p:cNvPr id="11" name="Image 1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785517" y="6236208"/>
            <a:ext cx="1857538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CHOOSE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選ばれる理由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1600200"/>
            <a:ext cx="109728" cy="1965960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920240" y="1892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集客まで一気通貫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914400" y="25603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制作だけでなく、SEO・MEO・運用まで対応。「公開後に問い合わせが来る」サイトを目指します。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291072" y="16002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291072" y="1600200"/>
            <a:ext cx="109728" cy="1965960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13" name="Text 10"/>
          <p:cNvSpPr/>
          <p:nvPr/>
        </p:nvSpPr>
        <p:spPr>
          <a:xfrm>
            <a:off x="6611112" y="1856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662672" y="1892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SEO・スマホ標準対応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6656832" y="25603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検索対策とスマートフォン最適化は標準で対応。追加費用なしで土台を整えます。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48640" y="38862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48640" y="3886200"/>
            <a:ext cx="109728" cy="1965960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1920240" y="4178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全省庁統一資格を取得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914400" y="48463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全省庁統一資格（全国）を取得。官公庁・公的機関の入札案件にも対応できます。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291072" y="3886200"/>
            <a:ext cx="534924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291072" y="3886200"/>
            <a:ext cx="109728" cy="1965960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23" name="Text 20"/>
          <p:cNvSpPr/>
          <p:nvPr/>
        </p:nvSpPr>
        <p:spPr>
          <a:xfrm>
            <a:off x="6611112" y="4142232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04</a:t>
            </a:r>
            <a:endParaRPr lang="en-US" sz="3000" dirty="0"/>
          </a:p>
        </p:txBody>
      </p:sp>
      <p:sp>
        <p:nvSpPr>
          <p:cNvPr id="24" name="Text 21"/>
          <p:cNvSpPr/>
          <p:nvPr/>
        </p:nvSpPr>
        <p:spPr>
          <a:xfrm>
            <a:off x="7662672" y="4178808"/>
            <a:ext cx="3703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わかりやすい料金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6656832" y="48463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参考価格を明示。ご予算・目的に合わせて最適なプランをご提案します。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WEBSITE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ホームページ制作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120640"/>
                <a:gridCol w="2407615"/>
              </a:tblGrid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料金（税込）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ランディングページ制作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商品・サービス紹介、問い合わせフォーム設置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176,000円～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ホームページ制作（5ページ）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トップ／会社概要／サービス／お知らせ／お問い合わせ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コーポレートサイト制作（10ページ）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SEO対策・スマホ対応込みの本格サイト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採用サイト制作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求人情報、エントリーフォーム設置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予約サイト制作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予約システム導入、カレンダー連携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ECサイト制作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Shopify構築、決済設定、商品登録対応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880,000円～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ホームページリニューアル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デザイン・導線・構成の改善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220,000円～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SEO対策・スマートフォン対応は標準で対応しています。ページ数・機能・デザインによりお見積りいたします。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集客・運用サポート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120640"/>
                <a:gridCol w="2407615"/>
              </a:tblGrid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料金（税込）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SEO内部対策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タイトル・構造の最適化、検索対策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Googleビジネスプロフィール設定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MEO対策・初期設定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 Analytics・Search Console設定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アクセス解析環境の構築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44,000円～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MEO運用サポート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Googleマップからの集客支援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月額44,000円～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SEO運用サポート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改善提案・レポート作成</a:t>
                      </a:r>
                      <a:endParaRPr lang="en-US" sz="11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月額66,000円～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5669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※「月額」は継続的な運用サポートの月額費用です。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CREATIVE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クリエイティブ制作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5120640"/>
                <a:gridCol w="2407615"/>
              </a:tblGrid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サービス内容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内容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料金（税込）</a:t>
                      </a:r>
                      <a:endParaRPr lang="en-US" sz="13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写真撮影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店舗・商品・会社の撮影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66,000円～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ロゴ制作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オリジナルロゴデザイン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110,000円～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バナー制作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広告・SNS用画像の制作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22,000円～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14305F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動画制作</a:t>
                      </a:r>
                      <a:endParaRPr lang="en-US" sz="12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20304D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企業紹介・SNS動画の制作</a:t>
                      </a:r>
                      <a:endParaRPr lang="en-US" sz="120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50" b="1" dirty="0">
                          <a:solidFill>
                            <a:srgbClr val="127399"/>
                          </a:solidFill>
                          <a:latin typeface="Yu Gothic" pitchFamily="34" charset="0"/>
                          <a:ea typeface="Yu Gothic" pitchFamily="34" charset="-122"/>
                          <a:cs typeface="Yu Gothic" pitchFamily="34" charset="-120"/>
                        </a:rPr>
                        <a:t>110,000円～</a:t>
                      </a:r>
                      <a:endParaRPr lang="en-US" sz="1350" dirty="0">
                        <a:latin typeface="Yu Gothic" charset="0"/>
                        <a:ea typeface="Yu Gothic" charset="0"/>
                        <a:cs typeface="Yu Gothic" charset="0"/>
                      </a:endParaRPr>
                    </a:p>
                  </a:txBody>
                  <a:tcPr marL="101600" marR="101600" marT="25400" marB="25400" anchor="ctr">
                    <a:lnL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F2F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MAINTENANCE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月額保守・サポートプラン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35295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202996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ライト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548640" y="260604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algn="ctr" indent="0" marL="0">
              <a:buNone/>
            </a:pPr>
            <a:r>
              <a:rPr lang="en-US" sz="30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11,000円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60120" y="3383280"/>
            <a:ext cx="2706624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356616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サーバー管理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SSL管理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月1回までの軽微な更新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416552" y="1554480"/>
            <a:ext cx="3529584" cy="3749040"/>
          </a:xfrm>
          <a:prstGeom prst="rect">
            <a:avLst/>
          </a:prstGeom>
          <a:solidFill>
            <a:srgbClr val="14305F"/>
          </a:solidFill>
          <a:ln w="12700">
            <a:solidFill>
              <a:srgbClr val="14305F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416552" y="1737360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おすすめ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416552" y="202996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スタンダード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4416552" y="260604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22,000円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828032" y="3383280"/>
            <a:ext cx="2706624" cy="0"/>
          </a:xfrm>
          <a:prstGeom prst="line">
            <a:avLst/>
          </a:prstGeom>
          <a:noFill/>
          <a:ln w="12700">
            <a:solidFill>
              <a:srgbClr val="2A4A7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828032" y="356616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サーバー管理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SSL管理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月3回まで更新対応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バックアップ管理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8284464" y="1554480"/>
            <a:ext cx="3529584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8284464" y="2029968"/>
            <a:ext cx="3529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プレミアム</a:t>
            </a:r>
            <a:endParaRPr lang="en-US" sz="2300" dirty="0"/>
          </a:p>
        </p:txBody>
      </p:sp>
      <p:sp>
        <p:nvSpPr>
          <p:cNvPr id="19" name="Text 16"/>
          <p:cNvSpPr/>
          <p:nvPr/>
        </p:nvSpPr>
        <p:spPr>
          <a:xfrm>
            <a:off x="8284464" y="2606040"/>
            <a:ext cx="35295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月額 </a:t>
            </a:r>
            <a:pPr algn="ctr" indent="0" marL="0">
              <a:buNone/>
            </a:pPr>
            <a:r>
              <a:rPr lang="en-US" sz="30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44,000円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8695944" y="3383280"/>
            <a:ext cx="2706624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695944" y="3566160"/>
            <a:ext cx="2798064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更新回数無制限（軽微な修正）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SEOレポート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アクセス解析レポート</a:t>
            </a:r>
            <a:endParaRPr lang="en-US" sz="125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優先サポート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548640" y="6035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※ サーバー・ドメイン・SSL の管理から軽微な更新まで、公開後も安心してお任せいただけます。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OPTIONS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" y="1554480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8" name="Text 5"/>
          <p:cNvSpPr/>
          <p:nvPr/>
        </p:nvSpPr>
        <p:spPr>
          <a:xfrm>
            <a:off x="841248" y="155448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お問い合わせフォーム追加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3986784" y="15544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22,000円～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395728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8640" y="2395728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12" name="Text 9"/>
          <p:cNvSpPr/>
          <p:nvPr/>
        </p:nvSpPr>
        <p:spPr>
          <a:xfrm>
            <a:off x="841248" y="239572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ブログ機能追加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86784" y="239572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44,000円～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236976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" y="3236976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16" name="Text 13"/>
          <p:cNvSpPr/>
          <p:nvPr/>
        </p:nvSpPr>
        <p:spPr>
          <a:xfrm>
            <a:off x="841248" y="3236976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多言語対応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3986784" y="323697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110,000円～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078224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" y="4078224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" y="4078224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LINE連携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3986784" y="407822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66,000円～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548640" y="4919472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48640" y="4919472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" y="4919472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AIチャットボット導入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3986784" y="491947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110,000円～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6281928" y="1554480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281928" y="1554480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28" name="Text 25"/>
          <p:cNvSpPr/>
          <p:nvPr/>
        </p:nvSpPr>
        <p:spPr>
          <a:xfrm>
            <a:off x="6574536" y="1554480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商品登録代行</a:t>
            </a:r>
            <a:endParaRPr lang="en-US" sz="1350" dirty="0"/>
          </a:p>
        </p:txBody>
      </p:sp>
      <p:sp>
        <p:nvSpPr>
          <p:cNvPr id="29" name="Text 26"/>
          <p:cNvSpPr/>
          <p:nvPr/>
        </p:nvSpPr>
        <p:spPr>
          <a:xfrm>
            <a:off x="9720072" y="1554480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44,000円～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281928" y="2395728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281928" y="2395728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2" name="Text 29"/>
          <p:cNvSpPr/>
          <p:nvPr/>
        </p:nvSpPr>
        <p:spPr>
          <a:xfrm>
            <a:off x="6574536" y="2395728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配送設定・送料設定</a:t>
            </a:r>
            <a:endParaRPr lang="en-US" sz="1350" dirty="0"/>
          </a:p>
        </p:txBody>
      </p:sp>
      <p:sp>
        <p:nvSpPr>
          <p:cNvPr id="33" name="Text 30"/>
          <p:cNvSpPr/>
          <p:nvPr/>
        </p:nvSpPr>
        <p:spPr>
          <a:xfrm>
            <a:off x="9720072" y="2395728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44,000円～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6281928" y="3236976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281928" y="3236976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6" name="Text 33"/>
          <p:cNvSpPr/>
          <p:nvPr/>
        </p:nvSpPr>
        <p:spPr>
          <a:xfrm>
            <a:off x="6574536" y="3236976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メルマガ設定</a:t>
            </a:r>
            <a:endParaRPr lang="en-US" sz="1350" dirty="0"/>
          </a:p>
        </p:txBody>
      </p:sp>
      <p:sp>
        <p:nvSpPr>
          <p:cNvPr id="37" name="Text 34"/>
          <p:cNvSpPr/>
          <p:nvPr/>
        </p:nvSpPr>
        <p:spPr>
          <a:xfrm>
            <a:off x="9720072" y="3236976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66,000円～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6281928" y="4078224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81928" y="4078224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40" name="Text 37"/>
          <p:cNvSpPr/>
          <p:nvPr/>
        </p:nvSpPr>
        <p:spPr>
          <a:xfrm>
            <a:off x="6574536" y="4078224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会員機能追加</a:t>
            </a:r>
            <a:endParaRPr lang="en-US" sz="1350" dirty="0"/>
          </a:p>
        </p:txBody>
      </p:sp>
      <p:sp>
        <p:nvSpPr>
          <p:cNvPr id="41" name="Text 38"/>
          <p:cNvSpPr/>
          <p:nvPr/>
        </p:nvSpPr>
        <p:spPr>
          <a:xfrm>
            <a:off x="9720072" y="4078224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110,000円～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6281928" y="4919472"/>
            <a:ext cx="5358384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281928" y="4919472"/>
            <a:ext cx="91440" cy="713232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44" name="Text 41"/>
          <p:cNvSpPr/>
          <p:nvPr/>
        </p:nvSpPr>
        <p:spPr>
          <a:xfrm>
            <a:off x="6574536" y="4919472"/>
            <a:ext cx="31638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予約システム追加</a:t>
            </a:r>
            <a:endParaRPr lang="en-US" sz="1350" dirty="0"/>
          </a:p>
        </p:txBody>
      </p:sp>
      <p:sp>
        <p:nvSpPr>
          <p:cNvPr id="45" name="Text 42"/>
          <p:cNvSpPr/>
          <p:nvPr/>
        </p:nvSpPr>
        <p:spPr>
          <a:xfrm>
            <a:off x="9720072" y="4919472"/>
            <a:ext cx="1783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110,000円～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48" name="Text 45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93776"/>
            <a:ext cx="146304" cy="42062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40233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2739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FLOW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62179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制作の流れ</a:t>
            </a:r>
            <a:endParaRPr lang="en-US" sz="2900" dirty="0"/>
          </a:p>
        </p:txBody>
      </p:sp>
      <p:pic>
        <p:nvPicPr>
          <p:cNvPr id="5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579124" y="493776"/>
            <a:ext cx="2063931" cy="365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103120"/>
            <a:ext cx="20665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2103120"/>
            <a:ext cx="2066544" cy="603504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21031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58368" y="28803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お問い合わせ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31520" y="36576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まずはお気軽にご相談ください。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596896" y="2103120"/>
            <a:ext cx="219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9"/>
          <p:cNvSpPr/>
          <p:nvPr/>
        </p:nvSpPr>
        <p:spPr>
          <a:xfrm>
            <a:off x="2798064" y="2103120"/>
            <a:ext cx="20665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798064" y="2103120"/>
            <a:ext cx="2066544" cy="603504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14" name="Text 11"/>
          <p:cNvSpPr/>
          <p:nvPr/>
        </p:nvSpPr>
        <p:spPr>
          <a:xfrm>
            <a:off x="2798064" y="21031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02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907792" y="28803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ヒアリング・お見積り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2980944" y="36576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目的・ご予算を伺い、最適なプランをご提案。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846320" y="2103120"/>
            <a:ext cx="219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047488" y="2103120"/>
            <a:ext cx="20665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047488" y="2103120"/>
            <a:ext cx="2066544" cy="603504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20" name="Text 17"/>
          <p:cNvSpPr/>
          <p:nvPr/>
        </p:nvSpPr>
        <p:spPr>
          <a:xfrm>
            <a:off x="5047488" y="21031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03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5157216" y="28803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制作・ご確認</a:t>
            </a:r>
            <a:endParaRPr lang="en-US" sz="1450" dirty="0"/>
          </a:p>
        </p:txBody>
      </p:sp>
      <p:sp>
        <p:nvSpPr>
          <p:cNvPr id="22" name="Text 19"/>
          <p:cNvSpPr/>
          <p:nvPr/>
        </p:nvSpPr>
        <p:spPr>
          <a:xfrm>
            <a:off x="5230368" y="36576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デザイン・実装。途中でご確認いただきます。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095744" y="2103120"/>
            <a:ext cx="219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24" name="Shape 21"/>
          <p:cNvSpPr/>
          <p:nvPr/>
        </p:nvSpPr>
        <p:spPr>
          <a:xfrm>
            <a:off x="7296912" y="2103120"/>
            <a:ext cx="20665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7296912" y="2103120"/>
            <a:ext cx="2066544" cy="603504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26" name="Text 23"/>
          <p:cNvSpPr/>
          <p:nvPr/>
        </p:nvSpPr>
        <p:spPr>
          <a:xfrm>
            <a:off x="7296912" y="21031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406640" y="28803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</a:t>
            </a:r>
            <a:endParaRPr lang="en-US" sz="1450" dirty="0"/>
          </a:p>
        </p:txBody>
      </p:sp>
      <p:sp>
        <p:nvSpPr>
          <p:cNvPr id="28" name="Text 25"/>
          <p:cNvSpPr/>
          <p:nvPr/>
        </p:nvSpPr>
        <p:spPr>
          <a:xfrm>
            <a:off x="7479792" y="36576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最終チェックの上、サイトを公開します。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9345168" y="2103120"/>
            <a:ext cx="21945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9546336" y="2103120"/>
            <a:ext cx="2066544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E0EA"/>
            </a:solidFill>
            <a:prstDash val="solid"/>
          </a:ln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9546336" y="2103120"/>
            <a:ext cx="2066544" cy="603504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2" name="Text 29"/>
          <p:cNvSpPr/>
          <p:nvPr/>
        </p:nvSpPr>
        <p:spPr>
          <a:xfrm>
            <a:off x="9546336" y="2103120"/>
            <a:ext cx="20665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STEP 05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9656064" y="2880360"/>
            <a:ext cx="1847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4305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運用・サポート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9729216" y="3657600"/>
            <a:ext cx="170078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公開後も更新・集客を継続サポート。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12700">
            <a:solidFill>
              <a:srgbClr val="D7E0EA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合同会社アフト　|　Webサイト制作・集客・運用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7985455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78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価格はすべて税込・参考価格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30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C9BD1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9601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C9BD1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CONTACT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28016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まずはお気軽にご相談ください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ホームページ・集客のお悩み、ご予算のご相談など、無料でお見積りいたします。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2788920"/>
            <a:ext cx="10360152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14305F">
                <a:alpha val="14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788920"/>
            <a:ext cx="146304" cy="3474720"/>
          </a:xfrm>
          <a:prstGeom prst="rect">
            <a:avLst/>
          </a:prstGeom>
          <a:solidFill>
            <a:srgbClr val="1C9BD1"/>
          </a:solidFill>
          <a:ln/>
        </p:spPr>
      </p:sp>
      <p:pic>
        <p:nvPicPr>
          <p:cNvPr id="8" name="Image 0" descr="/Users/kondoubyakko/Desktop/Projects/wholesale-pricing-pptx/assets/imgi_1_logo-2_11z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371600" y="3154680"/>
            <a:ext cx="3869871" cy="685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371600" y="4160520"/>
            <a:ext cx="1417320" cy="402336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10" name="Text 7"/>
          <p:cNvSpPr/>
          <p:nvPr/>
        </p:nvSpPr>
        <p:spPr>
          <a:xfrm>
            <a:off x="1371600" y="41605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代表者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926080" y="41605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荒関 太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1371600" y="4617720"/>
            <a:ext cx="1417320" cy="402336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13" name="Text 10"/>
          <p:cNvSpPr/>
          <p:nvPr/>
        </p:nvSpPr>
        <p:spPr>
          <a:xfrm>
            <a:off x="1371600" y="46177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所在地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926080" y="46177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神奈川県横浜市泉区上飯田町335-3-A103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1371600" y="5074920"/>
            <a:ext cx="1417320" cy="402336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16" name="Text 13"/>
          <p:cNvSpPr/>
          <p:nvPr/>
        </p:nvSpPr>
        <p:spPr>
          <a:xfrm>
            <a:off x="1371600" y="50749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TEL／FAX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926080" y="50749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050-3383-1248</a:t>
            </a:r>
            <a:endParaRPr lang="en-US" sz="1450" dirty="0"/>
          </a:p>
        </p:txBody>
      </p:sp>
      <p:sp>
        <p:nvSpPr>
          <p:cNvPr id="18" name="Shape 15"/>
          <p:cNvSpPr/>
          <p:nvPr/>
        </p:nvSpPr>
        <p:spPr>
          <a:xfrm>
            <a:off x="1371600" y="5532120"/>
            <a:ext cx="1417320" cy="402336"/>
          </a:xfrm>
          <a:prstGeom prst="rect">
            <a:avLst/>
          </a:prstGeom>
          <a:solidFill>
            <a:srgbClr val="14305F"/>
          </a:solidFill>
          <a:ln/>
        </p:spPr>
      </p:sp>
      <p:sp>
        <p:nvSpPr>
          <p:cNvPr id="19" name="Text 16"/>
          <p:cNvSpPr/>
          <p:nvPr/>
        </p:nvSpPr>
        <p:spPr>
          <a:xfrm>
            <a:off x="1371600" y="5532120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資格等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2926080" y="5532120"/>
            <a:ext cx="8046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20304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全省庁統一資格（全国）取得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914400" y="6428232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F2F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全国対応　｜　官公庁・公的機関の入札案件に対応可能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Web制作のご提案</dc:title>
  <dc:subject>PptxGenJS Presentation</dc:subject>
  <dc:creator>合同会社アフト</dc:creator>
  <cp:lastModifiedBy>合同会社アフト</cp:lastModifiedBy>
  <cp:revision>1</cp:revision>
  <dcterms:created xsi:type="dcterms:W3CDTF">2026-06-17T05:43:10Z</dcterms:created>
  <dcterms:modified xsi:type="dcterms:W3CDTF">2026-06-17T05:43:10Z</dcterms:modified>
</cp:coreProperties>
</file>